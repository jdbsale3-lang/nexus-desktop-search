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[OPEN — 30 seconds] Good afternoon and thank you for the time. I'm Darren Birch, founder of ZEUS AI Intelligence. This is a 30-minute briefing on a partnership, not a procurement: how the UK's existing identity layers gain their missing fourth layer — a national credential on a secure rail — secured end-to-end by our live AEGIS security platform. All IP in this programme belongs to JDB Sales, licensed to our UK holding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[CONTEXT — 2 min] Set the frame before numbers: the NHS already has the App (39m+ users), NHS Login, and the NHS Number — three of the four layers of a national identity. The missing fourth is a national credential: a mobile secure-enclave plus a low-cost physical token for those who can't use a phone. Estonia is the proof this works: 98% ID coverage, 99% of health processes digital, 1,345 years of citizen time saved per year. And we are ready now: DIATF alpha design exists, OfDIA and the ICO have been pre-notified, both certifying bodies are engaged, and AEGIS is live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[ESTONIA — 3 min] Give the comparator teeth. 98% card coverage, 99% health digital, 100% e-prescriptions, 1,345 years saved. Then the three economic lessons: the card is a low-cost public utility — value comes from the permissions economy at the edges (e-Residency returned ~EUR 125m in a single year); identity was built BEFORE health (the EHR rode the 2002 card); and X-Road means no central mega-database — the once-only principle is law. Same philosophy, tailored to the 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[FOUNDATION — 2 min] Walk the four layers. 1 NHS App — the digital front door. 2 NHS Login — the national identity service for health. 3 NHS Number — the universal identifier plus staff Care Identity Service. 4 — the missing piece we build: the National Credential on a secure rail. The fourth layer unlocks once-only, citizen audit rights, and a single trusted key to public services. This is a layer over what exists — nothing is replaced, nothing is ripped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[PARTNERSHIP — 3 min] This is the philosophy slide. We are a single accountable delivery partner; IP stays with JDB Sales, licensed to the holding company. Hybrid credential: physical smart card + wallet/app for ~50 million citizens. AEGIS is woven through — live, tested, DIATF/DSPT/DTAC-ready — which avoids a 3-5 year bespoke security build. Estonia is the proven comparator. And revenue is honest: ~£24.4bn ten-year value, ~£155-360m programme cost, ~28x ROI — with a permission-economy revenue stream at the edges (verification APIs). Certified UK/EU bureaus and HSMs handle physical manufacturing at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[PROGRAMME 01 — 3 min] The core programme. 50 million smart cards + app; £24.4bn ten-year value; 28.2x projected ROI. Hybrid credential: mobile secure-enclave for the majority, low-cost physical token for the digitally excluded — nobody left behind. Two mandates worth emphasising: the citizen transparency mandate (every data access logged, one-touch red-flag to the ICO) and once-only by law (the state may not ask for information it already holds). Built to DIATF gamma 0.4 rules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[PROGRAMME 02 — AEGIS — 3 min] This is what nobody else in the room has. AEGIS is live today: 8 security modules, 37 endpoints, 24 defence layers, 8/8 audit findings fixed. It covers all 7 AI attack vectors — prompt injection, agent authorisation, MCP gateway, RAG, supply chain, model extraction, vector security. A 24/7 AI guardian that detects, blocks, reports — producing the audit evidence regulators want. GDPR/CE-ready, DSPT self-assessed, API-first, live in days. Independently tested live: 27/27 injection blocks, zero false positives; auth enforced 401/401/200.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[COMPLIANCE — 2 min] The path is real, not aspirational. DIATF gamma 0.4: alpha built to government rules; certification with BSI/Kantara in motion. OfDIA + ICO: pre-notification sent 27 Aug, DPIA in progress, ICO register reference ZC230615. Both CABs — BSI and Kantara — engaged. DSPT v8 / DTAC v2: AEGIS self-assessed, evidence pack in place. And the GOV.UK digital identity register entry is prepared for post-certification. If asked: we're doing this ourselves, we're not looking for the certification to be done for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[ROADMAP — 2 min] Four phases, every one gated on evidence. 2026: engage and plan — partnership, DIATF sandbox, RFI responses, certification kick-off. 2026-27: the pilot — regional issuance (card + app), AEGIS live, bureau contracts, CMS + HSM. 2027-29: scale — national rollout of 50M, wallet + attributes, cross-sector joins. 2029-30: the ecosystem — permissions economy, GOV.UK One Login, full coverage. No phase moves without certification, pilots, compliance, and live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— 2 min] Honest economics. AEGIS is commercial today: Essentials £5,000 · Advanced £30,000 · Enterprise £100,000 per year — that funding keeps the corridor alive while the programme certifies and pilots. The licensing model: JDB Sales owns the IP, licences to the holding company; per-card, per-user, per-API transaction licensing at scale. And the NHS value: reduced duplicated data, freed clinical time, citizen empowerment, a consent-first and audit-visible health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ASK — 3 min] Close with four concrete asks. One: agree the partnership model — supplier-of-record or licensed delivery partner — with NHS England commercial. Two: sponsor a DIATF-compliant identity wallet plus AEGIS security pilot within Product &amp; Platforms. Three: route through DHSC / NHS England commercial for a funded programme — the £24.4bn / 28x ROI case is on the table. Four: stand up a data &amp; security working group — AEGIS plus NHS cyber — to run the DTAC/DSPT evidence. Ask which of the four they'd like to move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[CLOSE — 1 min] Thank them. One sentence summary: the identity-first future for the NHS, secured end to end by AEGIS — a partnership, a pilot, and a proven blueprint. Offer the leave-behind (one pager) and the NDA if they want the architecture detail. Give your contact: jdbsale3@gmail.com, 01922 445318. Invite next steps within two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914400"/>
            <a:ext cx="868680" cy="8686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4080F"/>
                </a:solidFill>
                <a:latin typeface="Calibri"/>
              </a:rPr>
              <a:t>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932688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8E2D3"/>
                </a:solidFill>
                <a:latin typeface="Georgia"/>
              </a:rPr>
              <a:t>ZEUSTRUST</a:t>
            </a:r>
            <a:r>
              <a:rPr sz="2000" b="1">
                <a:solidFill>
                  <a:srgbClr val="22D3EE"/>
                </a:solidFill>
                <a:latin typeface="Georgia"/>
              </a:rPr>
              <a:t>AEGIS</a:t>
            </a:r>
            <a:r>
              <a:rPr sz="2000" b="1">
                <a:solidFill>
                  <a:srgbClr val="E8E2D3"/>
                </a:solidFill>
                <a:latin typeface="Georgia"/>
              </a:rPr>
              <a:t>SECURITY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25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A3B8"/>
                </a:solidFill>
                <a:latin typeface="Consolas"/>
              </a:rPr>
              <a:t>Company No. 17391549 · 66 Paul Street, London EC2A 4NA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8E2D3"/>
                </a:solidFill>
                <a:latin typeface="Georgia"/>
              </a:rPr>
              <a:t>The NHS ID Card System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2D3EE"/>
                </a:solidFill>
                <a:latin typeface="Calibri"/>
              </a:rPr>
              <a:t>Partnership &amp; pilot - the AEGIS-secured digital identity 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3B8"/>
                </a:solidFill>
                <a:latin typeface="Calibri"/>
              </a:rPr>
              <a:t>NHS England briefing · 30 minutes · Thursday 1 October 16:00-16:30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E2D3"/>
                </a:solidFill>
                <a:latin typeface="Calibri"/>
              </a:rPr>
              <a:t>Presented by Darren Birch, Founder &amp; Developer · ZEUSAI / ZEUSTRUSTAEGISSECURITY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onsolas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4080F"/>
                </a:solidFill>
                <a:latin typeface="Georgia"/>
              </a:rPr>
              <a:t>Why we are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4080F"/>
                </a:solidFill>
                <a:latin typeface="Calibri"/>
              </a:rPr>
              <a:t>The United Kingdom already holds 3 of the 4 layers of a national digital identity. We bring the missing fourth - and the security that makes it trustworthy.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97480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99232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Estonia evidence · four layers · partnership model · DIATF/compliance · pilot plan · the ask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721608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758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2336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NHS App, NHS Login and NHS Number exist. A national credential on a secure rail does not.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745736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Proven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047488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Estonia: 98% ID coverage, 99% digital health, 1,345 years of citizen time saved per year.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769864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72414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Ready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71616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DIATF alpha design, OfDIA/ICO pre-notified, BSI/Kantara engaged, AEGIS live and tested.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THE PROVEN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2D3"/>
                </a:solidFill>
                <a:latin typeface="Georgia"/>
              </a:rPr>
              <a:t>Estonia proved it: identity first, health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ID-card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health processes digital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e-prescriptions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1,345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citizen time saved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The card is a low-cost public utility; value is created at the edges (permissions economy).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e-Residency returned approx. EUR 125m of state revenue in a single year.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Identity was built before health - the EHR (2008) rode the existing 2002 card.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Decentralised X-Road data exchange: no central mega-database, once-only principle by law.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The same philosophy, tailored to the United Kingdom.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onsolas"/>
              </a:rPr>
              <a:t>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4080F"/>
                </a:solidFill>
                <a:latin typeface="Georgia"/>
              </a:rPr>
              <a:t>Three layers exist. The fourth is 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2514600" cy="3017520"/>
          </a:xfrm>
          <a:prstGeom prst="rect">
            <a:avLst/>
          </a:prstGeom>
          <a:solidFill>
            <a:srgbClr val="DED8C9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AA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NHS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39m+ users; the digital front door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20240"/>
            <a:ext cx="2514600" cy="3017520"/>
          </a:xfrm>
          <a:prstGeom prst="rect">
            <a:avLst/>
          </a:prstGeom>
          <a:solidFill>
            <a:srgbClr val="DED8C9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03320" y="2148840"/>
            <a:ext cx="457200" cy="457200"/>
          </a:xfrm>
          <a:prstGeom prst="ellipse">
            <a:avLst/>
          </a:prstGeom>
          <a:solidFill>
            <a:srgbClr val="AA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788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NHS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38328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national identity service for 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2514600" cy="3017520"/>
          </a:xfrm>
          <a:prstGeom prst="rect">
            <a:avLst/>
          </a:prstGeom>
          <a:solidFill>
            <a:srgbClr val="DED8C9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AA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NHS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455"/>
                </a:solidFill>
                <a:latin typeface="Calibri"/>
              </a:rPr>
              <a:t>universal identifier + staff CIS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920240"/>
            <a:ext cx="2514600" cy="301752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21488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4080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788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E2D3"/>
                </a:solidFill>
                <a:latin typeface="Calibri"/>
              </a:rPr>
              <a:t>National Credential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38328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2D3"/>
                </a:solidFill>
                <a:latin typeface="Calibri"/>
              </a:rPr>
              <a:t>mobile secure-enclave + physical token on a secure 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3891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C542"/>
                </a:solidFill>
                <a:latin typeface="Consolas"/>
              </a:rPr>
              <a:t>WE BUILD THIS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The 4th layer unlocks the once-only principle, citizen audit rights, and a single trusted key to public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THE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2D3"/>
                </a:solidFill>
                <a:latin typeface="Georgia"/>
              </a:rPr>
              <a:t>A partnership, not a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Single accountable delivery partner - IP stays with JDB Sales, licensed to the holding company.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Hybrid credential: physical smart card + NHS digital identity wallet/app for ~50M citizens.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AEGIS AI Security woven through - live, tested, DIATF/DSPT/DTAC-ready (avoids 3-5 yr bespoke security build).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Proven Estonia comparator + permissions-economy revenue at the edges (verification APIs).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Certified UK/EU bureaus + HSMs handle physical manufacturing/fulfilment at volume.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8056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citizens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448056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47548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~£24.4B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553212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10-yr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448056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7548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~28x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553212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ROI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9136" y="448056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47548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£155-360M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553212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programme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onsolas"/>
              </a:rPr>
              <a:t>PROGRAMME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4080F"/>
                </a:solidFill>
                <a:latin typeface="Georgia"/>
              </a:rPr>
              <a:t>The NHS ID Card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50 million smart cards + app; GBP 24.4bn 10-year value; 28.2x projected ROI.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Hybrid credential: mobile secure-enclave for the majority, low-cost physical token for the digitally excluded.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Citizen transparency mandate: every data access logged, one-touch red-flag to the ICO.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Once-only by law: the state may not ask a citizen for information it already holds.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42"/>
                </a:solidFill>
                <a:latin typeface="Calibri"/>
              </a:rPr>
              <a:t>▸ </a:t>
            </a:r>
            <a:r>
              <a:rPr sz="1600" b="0">
                <a:solidFill>
                  <a:srgbClr val="E8E2D3"/>
                </a:solidFill>
                <a:latin typeface="Calibri"/>
              </a:rPr>
              <a:t>DIATF (gamma 0.4) alpha design built to government rules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50M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cards +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457200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484632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£24.4B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56235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10-yr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457200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484632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28.2x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56235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457200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484632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3+1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56235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PROGRAMME 02 ·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2D3"/>
                </a:solidFill>
                <a:latin typeface="Georgia"/>
              </a:rPr>
              <a:t>AEGIS AI Security - the layer that makes identity 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security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defence layers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2011680"/>
            <a:ext cx="2514600" cy="155448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228600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Georgia"/>
              </a:rPr>
              <a:t>8/8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30632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CCE"/>
                </a:solidFill>
                <a:latin typeface="Calibri"/>
              </a:rPr>
              <a:t>audit findings 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Covers all 7 AI attack vectors: prompt injection, agent authorisation, MCP gateway, RAG, supply chain, model extraction, vector security.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24/7 AI guardian: detects, blocks, reports - building the audit evidence regulators want.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GDPR/CE-ready and DSPT self-assessed. API-first, live in days, no rip-and-replace.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C542"/>
                </a:solidFill>
                <a:latin typeface="Calibri"/>
              </a:rPr>
              <a:t>▸ </a:t>
            </a:r>
            <a:r>
              <a:rPr sz="1500" b="0">
                <a:solidFill>
                  <a:srgbClr val="E8E2D3"/>
                </a:solidFill>
                <a:latin typeface="Calibri"/>
              </a:rPr>
              <a:t>Independently tested live (27/27 injection blocks, no false positives); auth enforced (401/401/200).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onsolas"/>
              </a:rPr>
              <a:t>COMPLIANCE &amp;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4080F"/>
                </a:solidFill>
                <a:latin typeface="Georgia"/>
              </a:rPr>
              <a:t>The compliance path is real and underway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2834640" cy="77724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E2D3"/>
                </a:solidFill>
                <a:latin typeface="Calibri"/>
              </a:rPr>
              <a:t>DIATF (gamma 0.4)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865376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4080F"/>
                </a:solidFill>
                <a:latin typeface="Calibri"/>
              </a:rPr>
              <a:t>Alpha built to government rules; certification with BSI/Kantara in motion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2834640" cy="77724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7121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E2D3"/>
                </a:solidFill>
                <a:latin typeface="Calibri"/>
              </a:rPr>
              <a:t>OfDIA + 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798064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4080F"/>
                </a:solidFill>
                <a:latin typeface="Calibri"/>
              </a:rPr>
              <a:t>Pre-notification sent 27 Aug; DPIA in progress; ICO register ZC230615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02736"/>
            <a:ext cx="2834640" cy="77724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0390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E2D3"/>
                </a:solidFill>
                <a:latin typeface="Calibri"/>
              </a:rPr>
              <a:t>CABs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73075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4080F"/>
                </a:solidFill>
                <a:latin typeface="Calibri"/>
              </a:rPr>
              <a:t>Both approved bodies engaged: BSI and Kantara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35424"/>
            <a:ext cx="2834640" cy="77724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3659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E2D3"/>
                </a:solidFill>
                <a:latin typeface="Calibri"/>
              </a:rPr>
              <a:t>DSPT / DTAC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663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4080F"/>
                </a:solidFill>
                <a:latin typeface="Calibri"/>
              </a:rPr>
              <a:t>AEGIS self-assessed; evidence pack in place for DSPT v8 / DTAC v2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2834640" cy="77724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E2D3"/>
                </a:solidFill>
                <a:latin typeface="Calibri"/>
              </a:rPr>
              <a:t>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559612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4080F"/>
                </a:solidFill>
                <a:latin typeface="Calibri"/>
              </a:rPr>
              <a:t>GOV.UK digital identity register entry prepared (post-certification)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THE ROADMAP 2026-2030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2D3"/>
                </a:solidFill>
                <a:latin typeface="Georgia"/>
              </a:rPr>
              <a:t>From partnership to national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06040" cy="310896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5C542"/>
                </a:solidFill>
                <a:latin typeface="Georgia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06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Engage &amp;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0896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A3B8"/>
                </a:solidFill>
                <a:latin typeface="Calibri"/>
              </a:rPr>
              <a:t>Partnership, DIATF sandbox, RFIs, certification kick-off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1828800"/>
            <a:ext cx="2606040" cy="310896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5C542"/>
                </a:solidFill>
                <a:latin typeface="Georgia"/>
              </a:rPr>
              <a:t>2026-27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606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10896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A3B8"/>
                </a:solidFill>
                <a:latin typeface="Calibri"/>
              </a:rPr>
              <a:t>Regional issuance (card+app), AEGIS live, bureau contracts, CMS+HSM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828800"/>
            <a:ext cx="2606040" cy="310896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5C542"/>
                </a:solidFill>
                <a:latin typeface="Georgia"/>
              </a:rPr>
              <a:t>2027-29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606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10896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A3B8"/>
                </a:solidFill>
                <a:latin typeface="Calibri"/>
              </a:rPr>
              <a:t>National rollout 50M, wallet + attributes, cross-sector joins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1828800"/>
            <a:ext cx="2606040" cy="3108960"/>
          </a:xfrm>
          <a:prstGeom prst="rect">
            <a:avLst/>
          </a:prstGeom>
          <a:solidFill>
            <a:srgbClr val="0B1A2A"/>
          </a:solidFill>
          <a:ln>
            <a:solidFill>
              <a:srgbClr val="1E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5C542"/>
                </a:solidFill>
                <a:latin typeface="Georgia"/>
              </a:rPr>
              <a:t>2029-30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06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10896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FA3B8"/>
                </a:solidFill>
                <a:latin typeface="Calibri"/>
              </a:rPr>
              <a:t>Permissions economy, GOV.UK One Login, full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E2D3"/>
                </a:solidFill>
                <a:latin typeface="Calibri"/>
              </a:rPr>
              <a:t>Every phase gated on evidence - certification, pilots, compliance, live deployments.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onsolas"/>
              </a:rPr>
              <a:t>COMMERCIAL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4080F"/>
                </a:solidFill>
                <a:latin typeface="Georgia"/>
              </a:rPr>
              <a:t>Honest economics, proven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4080F"/>
                </a:solidFill>
                <a:latin typeface="Calibri"/>
              </a:rPr>
              <a:t>AEGIS revenue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6692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C542"/>
                </a:solidFill>
                <a:latin typeface="Calibri"/>
              </a:rPr>
              <a:t>▸ </a:t>
            </a:r>
            <a:r>
              <a:rPr sz="1400" b="0">
                <a:solidFill>
                  <a:srgbClr val="E8E2D3"/>
                </a:solidFill>
                <a:latin typeface="Calibri"/>
              </a:rPr>
              <a:t>Essentials GBP 5,000 · Advanced GBP 30,000 · Enterprise GBP 100,000/yr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5C542"/>
                </a:solidFill>
                <a:latin typeface="Calibri"/>
              </a:rPr>
              <a:t>▸ </a:t>
            </a:r>
            <a:r>
              <a:rPr sz="1400" b="0">
                <a:solidFill>
                  <a:srgbClr val="E8E2D3"/>
                </a:solidFill>
                <a:latin typeface="Calibri"/>
              </a:rPr>
              <a:t>Funds the corridor while the programme certifies and pilots.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4080F"/>
                </a:solidFill>
                <a:latin typeface="Calibri"/>
              </a:rPr>
              <a:t>Licensing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5C542"/>
                </a:solidFill>
                <a:latin typeface="Calibri"/>
              </a:rPr>
              <a:t>▸ </a:t>
            </a:r>
            <a:r>
              <a:rPr sz="1400" b="0">
                <a:solidFill>
                  <a:srgbClr val="E8E2D3"/>
                </a:solidFill>
                <a:latin typeface="Calibri"/>
              </a:rPr>
              <a:t>JDB Sales owns IP; licences to the holding company (17391549).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5C542"/>
                </a:solidFill>
                <a:latin typeface="Calibri"/>
              </a:rPr>
              <a:t>▸ </a:t>
            </a:r>
            <a:r>
              <a:rPr sz="1400" b="0">
                <a:solidFill>
                  <a:srgbClr val="E8E2D3"/>
                </a:solidFill>
                <a:latin typeface="Calibri"/>
              </a:rPr>
              <a:t>Per-card / per-user / per-API transaction licensing at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080F"/>
                </a:solidFill>
                <a:latin typeface="Calibri"/>
              </a:rPr>
              <a:t>Value to the NHS: reduced duplicated data, freed clinical time, citizen empowerment, and a consent-first, audit-visible health identity.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2D3"/>
                </a:solidFill>
                <a:latin typeface="Georgia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C542"/>
                </a:solidFill>
                <a:latin typeface="Calibri"/>
              </a:rPr>
              <a:t>▸ </a:t>
            </a:r>
            <a:r>
              <a:rPr sz="1700" b="0">
                <a:solidFill>
                  <a:srgbClr val="E8E2D3"/>
                </a:solidFill>
                <a:latin typeface="Calibri"/>
              </a:rPr>
              <a:t>Agree the partnership model (supplier-of-record / licensed delivery partner) with NHS England commercial.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5C542"/>
                </a:solidFill>
                <a:latin typeface="Calibri"/>
              </a:rPr>
              <a:t>▸ </a:t>
            </a:r>
            <a:r>
              <a:rPr sz="1700" b="0">
                <a:solidFill>
                  <a:srgbClr val="E8E2D3"/>
                </a:solidFill>
                <a:latin typeface="Calibri"/>
              </a:rPr>
              <a:t>Sponsor a DIATF-compliant identity wallet + AEGIS security pilot within Product &amp; Platforms.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5C542"/>
                </a:solidFill>
                <a:latin typeface="Calibri"/>
              </a:rPr>
              <a:t>▸ </a:t>
            </a:r>
            <a:r>
              <a:rPr sz="1700" b="0">
                <a:solidFill>
                  <a:srgbClr val="E8E2D3"/>
                </a:solidFill>
                <a:latin typeface="Calibri"/>
              </a:rPr>
              <a:t>Route through DHSC / NHS England commercial for a funded programme (GBP 24.4bn / 28x ROI case).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5C542"/>
                </a:solidFill>
                <a:latin typeface="Calibri"/>
              </a:rPr>
              <a:t>▸ </a:t>
            </a:r>
            <a:r>
              <a:rPr sz="1700" b="0">
                <a:solidFill>
                  <a:srgbClr val="E8E2D3"/>
                </a:solidFill>
                <a:latin typeface="Calibri"/>
              </a:rPr>
              <a:t>Stand up a data &amp; security working group (AEGIS + NHS cyber) to run DTAC/DSPT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4080F"/>
                </a:solidFill>
                <a:latin typeface="Calibri"/>
              </a:rPr>
              <a:t>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2D3"/>
                </a:solidFill>
                <a:latin typeface="Georgia"/>
              </a:rPr>
              <a:t>ZEUSTRUSTAEGISSECURITY LTD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D3EE"/>
                </a:solidFill>
                <a:latin typeface="Calibri"/>
              </a:rPr>
              <a:t>The identity-first future for the NHS, secured end to end by AEGIS.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E2D3"/>
                </a:solidFill>
                <a:latin typeface="Calibri"/>
              </a:rPr>
              <a:t>Darren Birch · Founder &amp; Developer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3B8"/>
                </a:solidFill>
                <a:latin typeface="Calibri"/>
              </a:rPr>
              <a:t>jdbsale3@gmail.com · 01922 445318 · X: @jdbsales3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FA3B8"/>
                </a:solidFill>
                <a:latin typeface="Calibri"/>
              </a:rPr>
              <a:t>66 Paul Street, London EC2A 4NA · Company No. 17391549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B7C6D4"/>
                </a:solidFill>
                <a:latin typeface="Calibri"/>
              </a:rPr>
              <a:t>All IP belongs to JDB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